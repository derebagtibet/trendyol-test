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notesMasterIdLst>
    <p:notesMasterId r:id="rId17"/>
  </p:notesMasterIdLst>
  <p:sldIdLst>
    <p:sldId id="256" r:id="rId2"/>
    <p:sldId id="258" r:id="rId3"/>
    <p:sldId id="273" r:id="rId4"/>
    <p:sldId id="275" r:id="rId5"/>
    <p:sldId id="267" r:id="rId6"/>
    <p:sldId id="266" r:id="rId7"/>
    <p:sldId id="268" r:id="rId8"/>
    <p:sldId id="269" r:id="rId9"/>
    <p:sldId id="270" r:id="rId10"/>
    <p:sldId id="260" r:id="rId11"/>
    <p:sldId id="262" r:id="rId12"/>
    <p:sldId id="261" r:id="rId13"/>
    <p:sldId id="259" r:id="rId14"/>
    <p:sldId id="276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55"/>
    <p:restoredTop sz="94625"/>
  </p:normalViewPr>
  <p:slideViewPr>
    <p:cSldViewPr snapToGrid="0">
      <p:cViewPr varScale="1">
        <p:scale>
          <a:sx n="103" d="100"/>
          <a:sy n="103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17:34:3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17:34:3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17:34:33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E49E3-C1C9-1545-B2E3-9B73442C1DF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E5AD0-EE66-624F-A241-6F6B6269CF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556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E5AD0-EE66-624F-A241-6F6B6269CFD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721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0390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703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99837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171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38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862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100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2099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8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81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4144637-1E0B-1B44-9125-A30F233B59E1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1B7524F-E9D9-5047-98B6-3BECF012A660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468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920D45-E4BA-ED30-9267-467AA8038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51D40"/>
                </a:solidFill>
                <a:latin typeface="Open Sans Extra Bold"/>
              </a:rPr>
              <a:t>SE 2226</a:t>
            </a:r>
            <a:br>
              <a:rPr lang="en-US" sz="3600" dirty="0">
                <a:solidFill>
                  <a:srgbClr val="051D40"/>
                </a:solidFill>
                <a:latin typeface="Open Sans Extra Bold"/>
              </a:rPr>
            </a:br>
            <a:r>
              <a:rPr lang="en-US" sz="3600" dirty="0">
                <a:solidFill>
                  <a:srgbClr val="051D40"/>
                </a:solidFill>
                <a:latin typeface="Open Sans Extra Bold"/>
              </a:rPr>
              <a:t> </a:t>
            </a:r>
            <a:br>
              <a:rPr lang="en-US" sz="3600" dirty="0">
                <a:solidFill>
                  <a:srgbClr val="051D40"/>
                </a:solidFill>
                <a:latin typeface="Open Sans Extra Bold"/>
              </a:rPr>
            </a:br>
            <a:r>
              <a:rPr lang="en-US" sz="3600" dirty="0">
                <a:solidFill>
                  <a:srgbClr val="051D40"/>
                </a:solidFill>
                <a:latin typeface="Open Sans Extra Bold"/>
              </a:rPr>
              <a:t>Software Quality Assurance and Testing Project</a:t>
            </a:r>
            <a:br>
              <a:rPr lang="en-US" sz="7200" dirty="0">
                <a:solidFill>
                  <a:srgbClr val="051D40"/>
                </a:solidFill>
                <a:latin typeface="Open Sans Extra Bold"/>
              </a:rPr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48B96F4-2804-3117-431D-ECC3A2E58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3701" y="3536412"/>
            <a:ext cx="5199962" cy="3235579"/>
          </a:xfrm>
        </p:spPr>
        <p:txBody>
          <a:bodyPr>
            <a:noAutofit/>
          </a:bodyPr>
          <a:lstStyle/>
          <a:p>
            <a:r>
              <a:rPr lang="tr-TR" sz="1400" dirty="0" err="1"/>
              <a:t>Department</a:t>
            </a:r>
            <a:r>
              <a:rPr lang="tr-TR" sz="1400" dirty="0"/>
              <a:t>: Software </a:t>
            </a:r>
            <a:r>
              <a:rPr lang="tr-TR" sz="1400" dirty="0" err="1"/>
              <a:t>Engineering</a:t>
            </a:r>
            <a:endParaRPr lang="tr-TR" sz="1400" dirty="0"/>
          </a:p>
          <a:p>
            <a:r>
              <a:rPr lang="tr-TR" sz="1400" dirty="0" err="1"/>
              <a:t>Lecturer</a:t>
            </a:r>
            <a:r>
              <a:rPr lang="tr-TR" sz="1400" dirty="0"/>
              <a:t>: </a:t>
            </a:r>
            <a:r>
              <a:rPr lang="tr-TR" sz="1400" dirty="0" err="1"/>
              <a:t>Doç.Dr</a:t>
            </a:r>
            <a:r>
              <a:rPr lang="tr-TR" sz="1400" dirty="0"/>
              <a:t>. Korhan Karabulut</a:t>
            </a:r>
          </a:p>
          <a:p>
            <a:endParaRPr lang="tr-TR" sz="1400" dirty="0"/>
          </a:p>
          <a:p>
            <a:r>
              <a:rPr lang="tr-TR" sz="1400" dirty="0" err="1"/>
              <a:t>Prepared</a:t>
            </a:r>
            <a:r>
              <a:rPr lang="tr-TR" sz="1400" dirty="0"/>
              <a:t> </a:t>
            </a:r>
            <a:r>
              <a:rPr lang="tr-TR" sz="1400" dirty="0" err="1"/>
              <a:t>By</a:t>
            </a:r>
            <a:r>
              <a:rPr lang="tr-TR" sz="1400" dirty="0"/>
              <a:t>:</a:t>
            </a:r>
          </a:p>
          <a:p>
            <a:r>
              <a:rPr lang="tr-TR" sz="1400" dirty="0"/>
              <a:t>Arda Gürkan- 23070006096</a:t>
            </a:r>
          </a:p>
          <a:p>
            <a:r>
              <a:rPr lang="tr-TR" sz="1400" dirty="0"/>
              <a:t>Emir Ersan- 23070006057</a:t>
            </a:r>
          </a:p>
          <a:p>
            <a:r>
              <a:rPr lang="tr-TR" sz="1400" dirty="0"/>
              <a:t>Can Gere- 23070006047</a:t>
            </a:r>
          </a:p>
          <a:p>
            <a:r>
              <a:rPr lang="tr-TR" sz="1400" dirty="0"/>
              <a:t>Tibet Derebağ- 23070006024</a:t>
            </a:r>
          </a:p>
          <a:p>
            <a:endParaRPr lang="tr-TR" sz="1400" dirty="0"/>
          </a:p>
          <a:p>
            <a:endParaRPr lang="tr-TR" sz="1400" dirty="0"/>
          </a:p>
          <a:p>
            <a:endParaRPr lang="tr-TR" sz="1400" dirty="0"/>
          </a:p>
          <a:p>
            <a:endParaRPr lang="tr-TR" sz="1400" dirty="0"/>
          </a:p>
          <a:p>
            <a:r>
              <a:rPr lang="tr-TR" sz="800" dirty="0"/>
              <a:t>23070006047@stu.yasar.edu.tr</a:t>
            </a:r>
          </a:p>
          <a:p>
            <a:endParaRPr lang="tr-TR" sz="14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AC020BB-9C8F-A6A4-10C2-42EEEFBDBF58}"/>
              </a:ext>
            </a:extLst>
          </p:cNvPr>
          <p:cNvSpPr txBox="1"/>
          <p:nvPr/>
        </p:nvSpPr>
        <p:spPr>
          <a:xfrm>
            <a:off x="0" y="1"/>
            <a:ext cx="569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1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FE851CC-B7F3-1E71-37E1-4034F68F6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0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4ABC23-7A0B-0076-EC5F-07FCB7BB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OVERVIEW</a:t>
            </a:r>
          </a:p>
        </p:txBody>
      </p:sp>
      <p:pic>
        <p:nvPicPr>
          <p:cNvPr id="6" name="İçerik Yer Tutucusu 5" descr="yazı tipi, grafik, logo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A647888A-06D0-B149-8BA9-E4340775D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6338" y="1964544"/>
            <a:ext cx="5211762" cy="1758279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F364E6F-967E-BFC8-CD1A-3307A71D0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2423711"/>
            <a:ext cx="3855720" cy="3443689"/>
          </a:xfrm>
        </p:spPr>
        <p:txBody>
          <a:bodyPr>
            <a:normAutofit/>
          </a:bodyPr>
          <a:lstStyle/>
          <a:p>
            <a:endParaRPr lang="tr-TR" sz="2800" dirty="0">
              <a:effectLst/>
            </a:endParaRPr>
          </a:p>
          <a:p>
            <a:r>
              <a:rPr lang="tr-TR" sz="2800" dirty="0"/>
              <a:t>1.Project Purpose &amp; Tested Features</a:t>
            </a:r>
          </a:p>
          <a:p>
            <a:r>
              <a:rPr lang="tr-TR" sz="2800" dirty="0"/>
              <a:t>2</a:t>
            </a:r>
            <a:r>
              <a:rPr lang="tr-TR" sz="2800" dirty="0">
                <a:effectLst/>
              </a:rPr>
              <a:t>. Black Box </a:t>
            </a:r>
            <a:r>
              <a:rPr lang="tr-TR" sz="2800" dirty="0" err="1">
                <a:effectLst/>
              </a:rPr>
              <a:t>Techniques</a:t>
            </a:r>
            <a:endParaRPr lang="tr-TR" sz="2800" dirty="0">
              <a:effectLst/>
            </a:endParaRPr>
          </a:p>
          <a:p>
            <a:endParaRPr lang="tr-TR" dirty="0"/>
          </a:p>
          <a:p>
            <a:pPr lvl="0"/>
            <a:endParaRPr lang="tr-TR" dirty="0">
              <a:effectLst/>
            </a:endParaRPr>
          </a:p>
          <a:p>
            <a:pPr marL="342900" lvl="0" indent="-342900">
              <a:buAutoNum type="arabicPeriod" startAt="2"/>
            </a:pPr>
            <a:endParaRPr lang="tr-TR" dirty="0">
              <a:effectLst/>
            </a:endParaRPr>
          </a:p>
          <a:p>
            <a:pPr marL="342900" lvl="0" indent="-342900">
              <a:buAutoNum type="arabicPeriod" startAt="2"/>
            </a:pPr>
            <a:endParaRPr lang="tr-TR" dirty="0">
              <a:effectLst/>
            </a:endParaRPr>
          </a:p>
          <a:p>
            <a:pPr marL="342900" indent="-342900">
              <a:buAutoNum type="arabicPeriod"/>
            </a:pPr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7183273-147B-6CFA-4E86-C5A9F88C75C6}"/>
              </a:ext>
            </a:extLst>
          </p:cNvPr>
          <p:cNvSpPr txBox="1"/>
          <p:nvPr/>
        </p:nvSpPr>
        <p:spPr>
          <a:xfrm>
            <a:off x="7089913" y="3507379"/>
            <a:ext cx="5552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 err="1"/>
              <a:t>https</a:t>
            </a:r>
            <a:r>
              <a:rPr lang="tr-TR" sz="800" dirty="0"/>
              <a:t>://</a:t>
            </a:r>
            <a:r>
              <a:rPr lang="tr-TR" sz="800" dirty="0" err="1"/>
              <a:t>tr.wikipedia.org</a:t>
            </a:r>
            <a:r>
              <a:rPr lang="tr-TR" sz="800" dirty="0"/>
              <a:t>/</a:t>
            </a:r>
            <a:r>
              <a:rPr lang="tr-TR" sz="800" dirty="0" err="1"/>
              <a:t>wiki</a:t>
            </a:r>
            <a:r>
              <a:rPr lang="tr-TR" sz="800" dirty="0"/>
              <a:t>/</a:t>
            </a:r>
            <a:r>
              <a:rPr lang="tr-TR" sz="800" dirty="0" err="1"/>
              <a:t>Dosya:Trendyol_online.png</a:t>
            </a:r>
            <a:endParaRPr lang="tr-TR" sz="800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CAC4960-4BB2-83C5-769A-5F0181D83460}"/>
              </a:ext>
            </a:extLst>
          </p:cNvPr>
          <p:cNvSpPr txBox="1"/>
          <p:nvPr/>
        </p:nvSpPr>
        <p:spPr>
          <a:xfrm>
            <a:off x="1" y="0"/>
            <a:ext cx="596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2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CCF376BF-0A35-3BEE-8358-B4E348451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DF31CA-33AB-5103-6ADB-B89B59DBC11E}"/>
              </a:ext>
            </a:extLst>
          </p:cNvPr>
          <p:cNvSpPr txBox="1"/>
          <p:nvPr/>
        </p:nvSpPr>
        <p:spPr>
          <a:xfrm>
            <a:off x="7532483" y="6500388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14017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07D7DF-4BD0-1D55-B5F5-E0724E6A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Purpose &amp; Tested Features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CAE0B2-F30E-5903-4911-28CDDBF99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Tested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actions</a:t>
            </a:r>
            <a:r>
              <a:rPr lang="tr-TR" dirty="0"/>
              <a:t> on </a:t>
            </a:r>
            <a:r>
              <a:rPr lang="tr-TR" dirty="0" err="1"/>
              <a:t>Trendyol</a:t>
            </a:r>
            <a:r>
              <a:rPr lang="tr-TR" dirty="0"/>
              <a:t>. (search, login, filter, placing an order)</a:t>
            </a:r>
          </a:p>
          <a:p>
            <a:endParaRPr lang="tr-TR" dirty="0"/>
          </a:p>
          <a:p>
            <a:r>
              <a:rPr lang="tr-TR" dirty="0" err="1"/>
              <a:t>Focused</a:t>
            </a:r>
            <a:r>
              <a:rPr lang="tr-TR" dirty="0"/>
              <a:t> on </a:t>
            </a:r>
            <a:r>
              <a:rPr lang="tr-TR" dirty="0" err="1"/>
              <a:t>verifying</a:t>
            </a:r>
            <a:r>
              <a:rPr lang="tr-TR" dirty="0"/>
              <a:t> </a:t>
            </a:r>
            <a:r>
              <a:rPr lang="tr-TR" dirty="0" err="1"/>
              <a:t>correct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behavior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tr-TR" dirty="0"/>
              <a:t>Black-</a:t>
            </a:r>
            <a:r>
              <a:rPr lang="tr-TR" dirty="0" err="1"/>
              <a:t>box</a:t>
            </a:r>
            <a:r>
              <a:rPr lang="tr-TR" dirty="0"/>
              <a:t> </a:t>
            </a:r>
            <a:r>
              <a:rPr lang="tr-TR" dirty="0" err="1"/>
              <a:t>testing</a:t>
            </a:r>
            <a:r>
              <a:rPr lang="tr-TR" dirty="0"/>
              <a:t> </a:t>
            </a:r>
            <a:r>
              <a:rPr lang="tr-TR" dirty="0" err="1"/>
              <a:t>techniques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applied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tr-TR" dirty="0"/>
              <a:t>Test </a:t>
            </a:r>
            <a:r>
              <a:rPr lang="tr-TR" dirty="0" err="1"/>
              <a:t>scenarios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interaction</a:t>
            </a:r>
            <a:r>
              <a:rPr lang="tr-TR" dirty="0"/>
              <a:t> </a:t>
            </a:r>
            <a:r>
              <a:rPr lang="tr-TR" dirty="0" err="1"/>
              <a:t>flow</a:t>
            </a:r>
            <a:r>
              <a:rPr lang="tr-TR" dirty="0"/>
              <a:t>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307A659-3F40-8DFA-40CC-D3022CE64982}"/>
              </a:ext>
            </a:extLst>
          </p:cNvPr>
          <p:cNvSpPr txBox="1"/>
          <p:nvPr/>
        </p:nvSpPr>
        <p:spPr>
          <a:xfrm>
            <a:off x="0" y="0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/>
              <a:t>3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04F4B74-07CA-D175-6AD6-C001B1C9A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8DD8CE-4D70-4022-ECF4-DBD42D60E566}"/>
              </a:ext>
            </a:extLst>
          </p:cNvPr>
          <p:cNvSpPr txBox="1"/>
          <p:nvPr/>
        </p:nvSpPr>
        <p:spPr>
          <a:xfrm>
            <a:off x="5540721" y="6519446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64679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6217D3-A2AB-6A8E-1C26-81A25F7F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567609"/>
            <a:ext cx="9601200" cy="1485900"/>
          </a:xfrm>
        </p:spPr>
        <p:txBody>
          <a:bodyPr>
            <a:normAutofit/>
          </a:bodyPr>
          <a:lstStyle/>
          <a:p>
            <a:r>
              <a:rPr lang="tr-TR" sz="5400" dirty="0"/>
              <a:t>BLACK BOX TECHNIQUES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A7C7921-09C5-A0D1-E6D1-4D99A049371F}"/>
              </a:ext>
            </a:extLst>
          </p:cNvPr>
          <p:cNvSpPr txBox="1"/>
          <p:nvPr/>
        </p:nvSpPr>
        <p:spPr>
          <a:xfrm>
            <a:off x="0" y="0"/>
            <a:ext cx="562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101A0-1AAF-70D2-27C8-3BAE0433A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76DE77-B2AF-9DC3-57E3-CAF74E3C15D3}"/>
              </a:ext>
            </a:extLst>
          </p:cNvPr>
          <p:cNvSpPr txBox="1"/>
          <p:nvPr/>
        </p:nvSpPr>
        <p:spPr>
          <a:xfrm>
            <a:off x="5783267" y="6519446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16391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E9BE59-97CD-8EF1-A3B5-AE9ACF3C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685800"/>
            <a:ext cx="4115794" cy="1871869"/>
          </a:xfrm>
        </p:spPr>
        <p:txBody>
          <a:bodyPr/>
          <a:lstStyle/>
          <a:p>
            <a:r>
              <a:rPr lang="tr-TR" dirty="0" err="1"/>
              <a:t>Boundary</a:t>
            </a:r>
            <a:r>
              <a:rPr lang="tr-TR" dirty="0"/>
              <a:t> Value Analysis:</a:t>
            </a:r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pic>
        <p:nvPicPr>
          <p:cNvPr id="6" name="İçerik Yer Tutucusu 5" descr="metin, ekran görüntüsü, sayı, numara, yazı tipi içeren bir resim&#10;&#10;Açıklama otomatik olarak oluşturuldu">
            <a:extLst>
              <a:ext uri="{FF2B5EF4-FFF2-40B4-BE49-F238E27FC236}">
                <a16:creationId xmlns:a16="http://schemas.microsoft.com/office/drawing/2014/main" id="{FF4E089A-0F43-79C2-FA18-10DF6F00B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0258" y="1908313"/>
            <a:ext cx="5647916" cy="2559104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A612693-CB7F-EDB2-6BDD-2D0299D89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3826" y="3021496"/>
            <a:ext cx="4115794" cy="3472068"/>
          </a:xfrm>
        </p:spPr>
        <p:txBody>
          <a:bodyPr/>
          <a:lstStyle/>
          <a:p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This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test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conducted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verify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system's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handling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minimum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maximum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character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limits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TR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1DECB6F-34FE-05B2-C917-C37B3EC8A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736" y="0"/>
            <a:ext cx="904875" cy="885825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D03455CF-D59D-8113-640F-AF7F542A6552}"/>
              </a:ext>
            </a:extLst>
          </p:cNvPr>
          <p:cNvSpPr txBox="1"/>
          <p:nvPr/>
        </p:nvSpPr>
        <p:spPr>
          <a:xfrm>
            <a:off x="-62321" y="10248"/>
            <a:ext cx="526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84282-C80F-7190-9D98-8B4DB1B9B964}"/>
              </a:ext>
            </a:extLst>
          </p:cNvPr>
          <p:cNvSpPr txBox="1"/>
          <p:nvPr/>
        </p:nvSpPr>
        <p:spPr>
          <a:xfrm>
            <a:off x="7885568" y="6557889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9389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7222EE1-52AF-1C9F-D944-E94660A3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3400"/>
              <a:t>Boundary Values Based On Character Count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E38EBB0-822E-8FFB-EFBD-1CFFEE0F5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2286000"/>
            <a:ext cx="3282694" cy="3581400"/>
          </a:xfrm>
        </p:spPr>
        <p:txBody>
          <a:bodyPr vert="horz" lIns="91440" tIns="45720" rIns="91440" bIns="45720" rtlCol="0">
            <a:noAutofit/>
          </a:bodyPr>
          <a:lstStyle/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 2-4: Battery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sz="2000" dirty="0"/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5-10: Oil Mix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sz="2000" dirty="0"/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11-14: Lip oil–Tire Pressure Sensor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sz="2000" dirty="0"/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15-19: Mug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sz="2000" dirty="0"/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30-40: </a:t>
            </a:r>
            <a:r>
              <a:rPr lang="tr-TR" sz="2000" dirty="0"/>
              <a:t>Car </a:t>
            </a:r>
            <a:r>
              <a:rPr lang="en-US" sz="2000" dirty="0"/>
              <a:t>Gear Knob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sz="2000" dirty="0"/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 sz="2000" dirty="0"/>
              <a:t>41-50: “No products found”	</a:t>
            </a:r>
          </a:p>
        </p:txBody>
      </p:sp>
      <p:pic>
        <p:nvPicPr>
          <p:cNvPr id="54" name="Resim Yer Tutucusu 53">
            <a:extLst>
              <a:ext uri="{FF2B5EF4-FFF2-40B4-BE49-F238E27FC236}">
                <a16:creationId xmlns:a16="http://schemas.microsoft.com/office/drawing/2014/main" id="{C02E24B5-6AC6-5B54-F2A9-0ED0B3C80B1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45" r="645"/>
          <a:stretch>
            <a:fillRect/>
          </a:stretch>
        </p:blipFill>
        <p:spPr>
          <a:xfrm>
            <a:off x="6463189" y="645106"/>
            <a:ext cx="4357211" cy="5861711"/>
          </a:xfrm>
          <a:prstGeom prst="rect">
            <a:avLst/>
          </a:prstGeom>
        </p:spPr>
      </p:pic>
      <p:sp>
        <p:nvSpPr>
          <p:cNvPr id="55" name="Metin kutusu 54">
            <a:extLst>
              <a:ext uri="{FF2B5EF4-FFF2-40B4-BE49-F238E27FC236}">
                <a16:creationId xmlns:a16="http://schemas.microsoft.com/office/drawing/2014/main" id="{F3D14E59-5865-B197-6560-AA03CD85D940}"/>
              </a:ext>
            </a:extLst>
          </p:cNvPr>
          <p:cNvSpPr txBox="1"/>
          <p:nvPr/>
        </p:nvSpPr>
        <p:spPr>
          <a:xfrm>
            <a:off x="0" y="47079"/>
            <a:ext cx="676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6</a:t>
            </a:r>
          </a:p>
        </p:txBody>
      </p:sp>
      <p:pic>
        <p:nvPicPr>
          <p:cNvPr id="56" name="Picture 3">
            <a:extLst>
              <a:ext uri="{FF2B5EF4-FFF2-40B4-BE49-F238E27FC236}">
                <a16:creationId xmlns:a16="http://schemas.microsoft.com/office/drawing/2014/main" id="{08706625-8BD0-E7DB-D17C-E2A0ED1B7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66F6EB-C7C3-0A8E-2C74-2EABA4FC2B5D}"/>
              </a:ext>
            </a:extLst>
          </p:cNvPr>
          <p:cNvSpPr txBox="1"/>
          <p:nvPr/>
        </p:nvSpPr>
        <p:spPr>
          <a:xfrm>
            <a:off x="7758820" y="6543982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61034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1B7F80-5F61-7EF9-7EDF-A28C0BE0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Equivalance Class Partitioning</a:t>
            </a:r>
            <a:endParaRPr lang="tr-TR" dirty="0"/>
          </a:p>
        </p:txBody>
      </p:sp>
      <p:pic>
        <p:nvPicPr>
          <p:cNvPr id="6" name="İçerik Yer Tutucusu 5" descr="metin, sayı, numara, ekran görüntüsü, makbuz içeren bir resim&#10;&#10;Açıklama otomatik olarak oluşturuldu">
            <a:extLst>
              <a:ext uri="{FF2B5EF4-FFF2-40B4-BE49-F238E27FC236}">
                <a16:creationId xmlns:a16="http://schemas.microsoft.com/office/drawing/2014/main" id="{AE9504C2-7B48-168F-BC5E-C7EB8E760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4667" y="866767"/>
            <a:ext cx="6607333" cy="5972175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94F5EE2-772A-38AF-4C96-9E7B05F69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tr-TR" sz="2000" dirty="0" err="1"/>
              <a:t>This</a:t>
            </a:r>
            <a:r>
              <a:rPr lang="tr-TR" sz="2000" dirty="0"/>
              <a:t> </a:t>
            </a:r>
            <a:r>
              <a:rPr lang="tr-TR" sz="2000" dirty="0" err="1"/>
              <a:t>table</a:t>
            </a:r>
            <a:r>
              <a:rPr lang="tr-TR" sz="2000" dirty="0"/>
              <a:t> </a:t>
            </a:r>
            <a:r>
              <a:rPr lang="tr-TR" sz="2000" dirty="0" err="1"/>
              <a:t>represents</a:t>
            </a:r>
            <a:r>
              <a:rPr lang="tr-TR" sz="2000" dirty="0"/>
              <a:t> </a:t>
            </a:r>
            <a:r>
              <a:rPr lang="tr-TR" sz="2000" dirty="0" err="1"/>
              <a:t>Equivalance</a:t>
            </a:r>
            <a:r>
              <a:rPr lang="tr-TR" sz="2000" dirty="0"/>
              <a:t> Class </a:t>
            </a:r>
            <a:r>
              <a:rPr lang="tr-TR" sz="2000" dirty="0" err="1"/>
              <a:t>Partitioning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email</a:t>
            </a:r>
            <a:r>
              <a:rPr lang="tr-TR" sz="2000" dirty="0"/>
              <a:t> </a:t>
            </a:r>
            <a:r>
              <a:rPr lang="tr-TR" sz="2000" dirty="0" err="1"/>
              <a:t>input</a:t>
            </a:r>
            <a:r>
              <a:rPr lang="tr-TR" sz="2000" dirty="0"/>
              <a:t> </a:t>
            </a:r>
            <a:r>
              <a:rPr lang="tr-TR" sz="2000" dirty="0" err="1"/>
              <a:t>field</a:t>
            </a:r>
            <a:r>
              <a:rPr lang="tr-TR" sz="2000" dirty="0"/>
              <a:t> on </a:t>
            </a:r>
            <a:r>
              <a:rPr lang="tr-TR" sz="2000" dirty="0" err="1"/>
              <a:t>Trendyol’s</a:t>
            </a:r>
            <a:r>
              <a:rPr lang="tr-TR" sz="2000" dirty="0"/>
              <a:t> </a:t>
            </a:r>
            <a:r>
              <a:rPr lang="tr-TR" sz="2000" dirty="0" err="1"/>
              <a:t>login</a:t>
            </a:r>
            <a:r>
              <a:rPr lang="tr-TR" sz="2000" dirty="0"/>
              <a:t> </a:t>
            </a:r>
            <a:r>
              <a:rPr lang="tr-TR" sz="2000" dirty="0" err="1"/>
              <a:t>page.It</a:t>
            </a:r>
            <a:r>
              <a:rPr lang="tr-TR" sz="2000" dirty="0"/>
              <a:t> is </a:t>
            </a:r>
            <a:r>
              <a:rPr lang="tr-TR" sz="2000" dirty="0" err="1"/>
              <a:t>based</a:t>
            </a:r>
            <a:r>
              <a:rPr lang="tr-TR" sz="2000" dirty="0"/>
              <a:t> on </a:t>
            </a:r>
            <a:r>
              <a:rPr lang="tr-TR" sz="2000" dirty="0" err="1"/>
              <a:t>character</a:t>
            </a:r>
            <a:r>
              <a:rPr lang="tr-TR" sz="2000" dirty="0"/>
              <a:t> </a:t>
            </a:r>
            <a:r>
              <a:rPr lang="tr-TR" sz="2000" dirty="0" err="1"/>
              <a:t>length</a:t>
            </a:r>
            <a:r>
              <a:rPr lang="tr-TR" sz="2000" dirty="0"/>
              <a:t> </a:t>
            </a:r>
            <a:r>
              <a:rPr lang="tr-TR" sz="2000" dirty="0" err="1"/>
              <a:t>constraints</a:t>
            </a:r>
            <a:r>
              <a:rPr lang="tr-TR" sz="2000" dirty="0"/>
              <a:t> </a:t>
            </a:r>
            <a:r>
              <a:rPr lang="tr-TR" sz="2000" dirty="0" err="1"/>
              <a:t>only</a:t>
            </a:r>
            <a:r>
              <a:rPr lang="tr-TR" sz="2000" dirty="0"/>
              <a:t>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5BD33E9-992C-2CA4-2FD1-C3DF040E6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4" y="0"/>
            <a:ext cx="904875" cy="885825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E763601D-D727-5D13-B21E-1FE703F517B2}"/>
              </a:ext>
            </a:extLst>
          </p:cNvPr>
          <p:cNvSpPr txBox="1"/>
          <p:nvPr/>
        </p:nvSpPr>
        <p:spPr>
          <a:xfrm>
            <a:off x="0" y="24051"/>
            <a:ext cx="4251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/>
              <a:t>7</a:t>
            </a:r>
          </a:p>
          <a:p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9806C-78A7-9FA0-EB26-D06BC9CACA19}"/>
              </a:ext>
            </a:extLst>
          </p:cNvPr>
          <p:cNvSpPr txBox="1"/>
          <p:nvPr/>
        </p:nvSpPr>
        <p:spPr>
          <a:xfrm>
            <a:off x="1847693" y="6519446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160934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6D619C-54C9-6607-2B10-A6B589F9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ERROR TYPES</a:t>
            </a:r>
          </a:p>
        </p:txBody>
      </p:sp>
      <p:pic>
        <p:nvPicPr>
          <p:cNvPr id="6" name="İçerik Yer Tutucusu 5" descr="metin, ekran görüntüsü, yazı tipi, çizgi içeren bir resim&#10;&#10;Açıklama otomatik olarak oluşturuldu">
            <a:extLst>
              <a:ext uri="{FF2B5EF4-FFF2-40B4-BE49-F238E27FC236}">
                <a16:creationId xmlns:a16="http://schemas.microsoft.com/office/drawing/2014/main" id="{A171EF75-B683-3C33-91C5-7208A4024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414193"/>
            <a:ext cx="4698999" cy="2701097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B1DD380-6C3E-0068-EEA0-BA387815F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2291772"/>
            <a:ext cx="3855720" cy="3011056"/>
          </a:xfrm>
        </p:spPr>
        <p:txBody>
          <a:bodyPr>
            <a:noAutofit/>
          </a:bodyPr>
          <a:lstStyle/>
          <a:p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1-In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first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image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the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email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is in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valid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format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which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is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why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the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system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checks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the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credentials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and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shows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a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login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error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because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the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account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doesn’t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-webkit-standard"/>
              </a:rPr>
              <a:t>exists</a:t>
            </a:r>
            <a:r>
              <a:rPr lang="tr-TR" sz="2000" dirty="0">
                <a:solidFill>
                  <a:srgbClr val="000000"/>
                </a:solidFill>
                <a:latin typeface="-webkit-standard"/>
              </a:rPr>
              <a:t>.</a:t>
            </a:r>
          </a:p>
          <a:p>
            <a:r>
              <a:rPr lang="tr-TR" sz="2000" dirty="0"/>
              <a:t>2-In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second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email</a:t>
            </a:r>
            <a:r>
              <a:rPr lang="tr-TR" sz="2000" dirty="0"/>
              <a:t> is </a:t>
            </a:r>
            <a:r>
              <a:rPr lang="tr-TR" sz="2000" dirty="0" err="1"/>
              <a:t>incorrect</a:t>
            </a:r>
            <a:r>
              <a:rPr lang="tr-TR" sz="2000" dirty="0"/>
              <a:t> </a:t>
            </a:r>
            <a:r>
              <a:rPr lang="tr-TR" sz="2000" dirty="0" err="1"/>
              <a:t>so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system</a:t>
            </a:r>
            <a:r>
              <a:rPr lang="tr-TR" sz="2000" dirty="0"/>
              <a:t> </a:t>
            </a:r>
            <a:r>
              <a:rPr lang="tr-TR" sz="2000" dirty="0" err="1"/>
              <a:t>immediately</a:t>
            </a:r>
            <a:r>
              <a:rPr lang="tr-TR" sz="2000" dirty="0"/>
              <a:t> </a:t>
            </a:r>
            <a:r>
              <a:rPr lang="tr-TR" sz="2000" dirty="0" err="1"/>
              <a:t>shows</a:t>
            </a:r>
            <a:r>
              <a:rPr lang="tr-TR" sz="2000" dirty="0"/>
              <a:t> an </a:t>
            </a:r>
            <a:r>
              <a:rPr lang="tr-TR" sz="2000" dirty="0" err="1"/>
              <a:t>error</a:t>
            </a:r>
            <a:r>
              <a:rPr lang="tr-TR" sz="2000" dirty="0"/>
              <a:t> </a:t>
            </a:r>
            <a:r>
              <a:rPr lang="tr-TR" sz="2000" dirty="0" err="1"/>
              <a:t>message</a:t>
            </a:r>
            <a:r>
              <a:rPr lang="tr-TR" sz="2000" dirty="0"/>
              <a:t> </a:t>
            </a:r>
            <a:r>
              <a:rPr lang="tr-TR" sz="2000" dirty="0" err="1"/>
              <a:t>about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invalid</a:t>
            </a:r>
            <a:r>
              <a:rPr lang="tr-TR" sz="2000" dirty="0"/>
              <a:t> </a:t>
            </a:r>
            <a:r>
              <a:rPr lang="tr-TR" sz="2000" dirty="0" err="1"/>
              <a:t>email</a:t>
            </a:r>
            <a:r>
              <a:rPr lang="tr-TR" sz="2000" dirty="0"/>
              <a:t>.</a:t>
            </a:r>
          </a:p>
        </p:txBody>
      </p:sp>
      <p:pic>
        <p:nvPicPr>
          <p:cNvPr id="10" name="Resim 9" descr="metin, ekran görüntüsü, yazı tipi, çizgi içeren bir resim&#10;&#10;Açıklama otomatik olarak oluşturuldu">
            <a:extLst>
              <a:ext uri="{FF2B5EF4-FFF2-40B4-BE49-F238E27FC236}">
                <a16:creationId xmlns:a16="http://schemas.microsoft.com/office/drawing/2014/main" id="{07B82360-02C6-932B-ABE8-1812E0CC6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97300"/>
            <a:ext cx="4699000" cy="2701097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1DDE325C-4798-A3F6-7E89-BF356E312181}"/>
              </a:ext>
            </a:extLst>
          </p:cNvPr>
          <p:cNvSpPr txBox="1"/>
          <p:nvPr/>
        </p:nvSpPr>
        <p:spPr>
          <a:xfrm>
            <a:off x="6639339" y="250207"/>
            <a:ext cx="2276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VALID EMAIL FORMAT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A911DB8-BFE1-53E8-B2EB-25099EB1B0FC}"/>
              </a:ext>
            </a:extLst>
          </p:cNvPr>
          <p:cNvSpPr txBox="1"/>
          <p:nvPr/>
        </p:nvSpPr>
        <p:spPr>
          <a:xfrm>
            <a:off x="6639339" y="3715541"/>
            <a:ext cx="254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INVALID EMAIL FORMAT </a:t>
            </a:r>
          </a:p>
          <a:p>
            <a:endParaRPr lang="tr-TR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6BCF77B9-DC37-6177-BD72-17647A4F9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4" y="0"/>
            <a:ext cx="904875" cy="885825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E54A995E-E408-C724-E9A2-C5CAB9DEDE10}"/>
              </a:ext>
            </a:extLst>
          </p:cNvPr>
          <p:cNvSpPr txBox="1"/>
          <p:nvPr/>
        </p:nvSpPr>
        <p:spPr>
          <a:xfrm>
            <a:off x="0" y="24051"/>
            <a:ext cx="42511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/>
              <a:t>8</a:t>
            </a:r>
          </a:p>
          <a:p>
            <a:endParaRPr lang="tr-TR" sz="3200" dirty="0"/>
          </a:p>
          <a:p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460EFC5-C116-47DF-9011-0C8E9750DF63}"/>
              </a:ext>
            </a:extLst>
          </p:cNvPr>
          <p:cNvSpPr txBox="1"/>
          <p:nvPr/>
        </p:nvSpPr>
        <p:spPr>
          <a:xfrm>
            <a:off x="7237066" y="6443807"/>
            <a:ext cx="1946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 err="1"/>
              <a:t>https</a:t>
            </a:r>
            <a:r>
              <a:rPr lang="tr-TR" sz="800" dirty="0"/>
              <a:t>://</a:t>
            </a:r>
            <a:r>
              <a:rPr lang="tr-TR" sz="800" dirty="0" err="1"/>
              <a:t>www.trendyol.com</a:t>
            </a:r>
            <a:r>
              <a:rPr lang="tr-TR" sz="800" dirty="0"/>
              <a:t>/</a:t>
            </a:r>
            <a:r>
              <a:rPr lang="tr-TR" sz="800" dirty="0" err="1"/>
              <a:t>giris?cb</a:t>
            </a:r>
            <a:r>
              <a:rPr lang="tr-TR" sz="800" dirty="0"/>
              <a:t>=%2F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2802533-9194-D1B7-6540-ACDE9B899B70}"/>
              </a:ext>
            </a:extLst>
          </p:cNvPr>
          <p:cNvSpPr txBox="1"/>
          <p:nvPr/>
        </p:nvSpPr>
        <p:spPr>
          <a:xfrm>
            <a:off x="7356106" y="3067668"/>
            <a:ext cx="1946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 err="1"/>
              <a:t>https</a:t>
            </a:r>
            <a:r>
              <a:rPr lang="tr-TR" sz="800" dirty="0"/>
              <a:t>://</a:t>
            </a:r>
            <a:r>
              <a:rPr lang="tr-TR" sz="800" dirty="0" err="1"/>
              <a:t>www.trendyol.com</a:t>
            </a:r>
            <a:r>
              <a:rPr lang="tr-TR" sz="800" dirty="0"/>
              <a:t>/</a:t>
            </a:r>
            <a:r>
              <a:rPr lang="tr-TR" sz="800" dirty="0" err="1"/>
              <a:t>giris?cb</a:t>
            </a:r>
            <a:r>
              <a:rPr lang="tr-TR" sz="800" dirty="0"/>
              <a:t>=%2F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95245E-A974-2B5A-74B5-A0F33EFE4C06}"/>
              </a:ext>
            </a:extLst>
          </p:cNvPr>
          <p:cNvSpPr txBox="1"/>
          <p:nvPr/>
        </p:nvSpPr>
        <p:spPr>
          <a:xfrm>
            <a:off x="1847693" y="6519446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4719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054F89-C901-6C06-0D6B-84D30C5F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FAILED CASES</a:t>
            </a:r>
          </a:p>
        </p:txBody>
      </p:sp>
      <p:pic>
        <p:nvPicPr>
          <p:cNvPr id="6" name="İçerik Yer Tutucusu 5" descr="metin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3076FDB0-2309-551B-2C0B-E9DD178F2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3975" y="380994"/>
            <a:ext cx="4876800" cy="2767496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310FA41-99EB-F3C5-9EFE-56C6D0425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Invalid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email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formats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were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not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correctly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identified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System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treated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them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as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valid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showed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login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error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instead</a:t>
            </a:r>
            <a:r>
              <a:rPr lang="tr-T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TR" sz="2000" dirty="0"/>
          </a:p>
        </p:txBody>
      </p:sp>
      <p:pic>
        <p:nvPicPr>
          <p:cNvPr id="10" name="Resim 9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FB17829B-293B-95D9-C4AA-A39F6787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975" y="3505200"/>
            <a:ext cx="4876800" cy="2971806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E463CDB2-97C5-370B-6B9F-09E47EA49A6E}"/>
              </a:ext>
            </a:extLst>
          </p:cNvPr>
          <p:cNvSpPr txBox="1"/>
          <p:nvPr/>
        </p:nvSpPr>
        <p:spPr>
          <a:xfrm>
            <a:off x="6334539" y="251791"/>
            <a:ext cx="2211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OVERLY LONG EMAIL</a:t>
            </a:r>
          </a:p>
          <a:p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BD81AB10-3305-8272-41E5-C7E1752A65A7}"/>
              </a:ext>
            </a:extLst>
          </p:cNvPr>
          <p:cNvSpPr txBox="1"/>
          <p:nvPr/>
        </p:nvSpPr>
        <p:spPr>
          <a:xfrm>
            <a:off x="6162261" y="3352800"/>
            <a:ext cx="3314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EMAIL WITH NO DOT IN DOMAIN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65C2D56C-F8E9-4514-80FC-D4BB4E8DC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4" y="0"/>
            <a:ext cx="904875" cy="885825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A5375A9C-455D-A8B9-9F08-E7369A8AC043}"/>
              </a:ext>
            </a:extLst>
          </p:cNvPr>
          <p:cNvSpPr txBox="1"/>
          <p:nvPr/>
        </p:nvSpPr>
        <p:spPr>
          <a:xfrm>
            <a:off x="0" y="24051"/>
            <a:ext cx="4251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/>
              <a:t>9</a:t>
            </a:r>
          </a:p>
          <a:p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8FDEAC2-BF02-3DBA-6924-D37A67C7C7AE}"/>
              </a:ext>
            </a:extLst>
          </p:cNvPr>
          <p:cNvSpPr txBox="1"/>
          <p:nvPr/>
        </p:nvSpPr>
        <p:spPr>
          <a:xfrm>
            <a:off x="6846518" y="6413962"/>
            <a:ext cx="1946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 err="1"/>
              <a:t>https</a:t>
            </a:r>
            <a:r>
              <a:rPr lang="tr-TR" sz="800" dirty="0"/>
              <a:t>://</a:t>
            </a:r>
            <a:r>
              <a:rPr lang="tr-TR" sz="800" dirty="0" err="1"/>
              <a:t>www.trendyol.com</a:t>
            </a:r>
            <a:r>
              <a:rPr lang="tr-TR" sz="800" dirty="0"/>
              <a:t>/</a:t>
            </a:r>
            <a:r>
              <a:rPr lang="tr-TR" sz="800" dirty="0" err="1"/>
              <a:t>giris?cb</a:t>
            </a:r>
            <a:r>
              <a:rPr lang="tr-TR" sz="800" dirty="0"/>
              <a:t>=%2F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28FEDA8-4AF4-0508-DD6E-CF9C8BF5E7C0}"/>
              </a:ext>
            </a:extLst>
          </p:cNvPr>
          <p:cNvSpPr txBox="1"/>
          <p:nvPr/>
        </p:nvSpPr>
        <p:spPr>
          <a:xfrm>
            <a:off x="6846518" y="3085446"/>
            <a:ext cx="61793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00" dirty="0" err="1"/>
              <a:t>https</a:t>
            </a:r>
            <a:r>
              <a:rPr lang="tr-TR" sz="800" dirty="0"/>
              <a:t>://</a:t>
            </a:r>
            <a:r>
              <a:rPr lang="tr-TR" sz="800" dirty="0" err="1"/>
              <a:t>www.trendyol.com</a:t>
            </a:r>
            <a:r>
              <a:rPr lang="tr-TR" sz="800" dirty="0"/>
              <a:t>/</a:t>
            </a:r>
            <a:r>
              <a:rPr lang="tr-TR" sz="800" dirty="0" err="1"/>
              <a:t>giris?cb</a:t>
            </a:r>
            <a:r>
              <a:rPr lang="tr-TR" sz="800" dirty="0"/>
              <a:t>=%2F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0F9FF-3679-5D72-3863-BEA861F545A3}"/>
              </a:ext>
            </a:extLst>
          </p:cNvPr>
          <p:cNvSpPr txBox="1"/>
          <p:nvPr/>
        </p:nvSpPr>
        <p:spPr>
          <a:xfrm>
            <a:off x="1665837" y="6460129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84523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430D5E-DE9C-4D2E-AEF7-77D706CB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462"/>
            <a:ext cx="9859488" cy="3581400"/>
          </a:xfrm>
        </p:spPr>
        <p:txBody>
          <a:bodyPr>
            <a:normAutofit/>
          </a:bodyPr>
          <a:lstStyle/>
          <a:p>
            <a:r>
              <a:rPr lang="en-US" dirty="0"/>
              <a:t>This decision table determines whether products will be listed based on user selections during the shoe filtering process on </a:t>
            </a:r>
            <a:r>
              <a:rPr lang="en-US" dirty="0" err="1"/>
              <a:t>Trendyol.Conditions</a:t>
            </a:r>
            <a:r>
              <a:rPr lang="en-US" dirty="0"/>
              <a:t> are listed in rows (short side),and rules (R1-R16) are listed in columns (long side) 2^4 =16 rules cover all combination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B79360D-B35F-C302-D365-0E4C5CD02BB3}"/>
              </a:ext>
            </a:extLst>
          </p:cNvPr>
          <p:cNvSpPr txBox="1"/>
          <p:nvPr/>
        </p:nvSpPr>
        <p:spPr>
          <a:xfrm>
            <a:off x="-116195" y="0"/>
            <a:ext cx="7299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10</a:t>
            </a:r>
          </a:p>
          <a:p>
            <a:endParaRPr lang="tr-TR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F7BB0-698B-4168-B866-126ECB552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pic>
        <p:nvPicPr>
          <p:cNvPr id="7" name="Resim 6" descr="metin, çapraz bulmaca, sayı, numara, yazı tipi içeren bir resim&#10;&#10;Açıklama otomatik olarak oluşturuldu">
            <a:extLst>
              <a:ext uri="{FF2B5EF4-FFF2-40B4-BE49-F238E27FC236}">
                <a16:creationId xmlns:a16="http://schemas.microsoft.com/office/drawing/2014/main" id="{5DE5ED07-5E96-AE35-BC2E-F9AC7C960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314" y="1835577"/>
            <a:ext cx="7772400" cy="45167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6CD4F5-597B-7455-F156-3F32914C0714}"/>
              </a:ext>
            </a:extLst>
          </p:cNvPr>
          <p:cNvSpPr txBox="1"/>
          <p:nvPr/>
        </p:nvSpPr>
        <p:spPr>
          <a:xfrm>
            <a:off x="5540721" y="6613538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20292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44935F-3C23-2893-7E27-CB537607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DC95252-968B-21FB-E3FA-115AE1E8DA16}"/>
              </a:ext>
            </a:extLst>
          </p:cNvPr>
          <p:cNvSpPr txBox="1"/>
          <p:nvPr/>
        </p:nvSpPr>
        <p:spPr>
          <a:xfrm>
            <a:off x="-108857" y="0"/>
            <a:ext cx="904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11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1C08292-BF2A-A266-2F77-2F1316485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181D4AD9-D2E7-11FA-9454-880426D581B9}"/>
              </a:ext>
            </a:extLst>
          </p:cNvPr>
          <p:cNvSpPr txBox="1"/>
          <p:nvPr/>
        </p:nvSpPr>
        <p:spPr>
          <a:xfrm>
            <a:off x="993234" y="2171700"/>
            <a:ext cx="19468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 </a:t>
            </a:r>
            <a:r>
              <a:rPr lang="tr-TR" sz="1400" dirty="0" err="1"/>
              <a:t>Unique</a:t>
            </a:r>
            <a:r>
              <a:rPr lang="tr-TR" sz="1400" dirty="0"/>
              <a:t> </a:t>
            </a:r>
            <a:r>
              <a:rPr lang="tr-TR" sz="1400" dirty="0" err="1"/>
              <a:t>combination</a:t>
            </a:r>
            <a:r>
              <a:rPr lang="tr-TR" sz="1400" dirty="0"/>
              <a:t> of </a:t>
            </a:r>
            <a:r>
              <a:rPr lang="tr-TR" sz="1400" dirty="0" err="1"/>
              <a:t>these</a:t>
            </a:r>
            <a:r>
              <a:rPr lang="tr-TR" sz="1400" dirty="0"/>
              <a:t> </a:t>
            </a:r>
            <a:r>
              <a:rPr lang="tr-TR" sz="1400" dirty="0" err="1"/>
              <a:t>conditions</a:t>
            </a:r>
            <a:r>
              <a:rPr lang="tr-TR" sz="1400" dirty="0"/>
              <a:t>. </a:t>
            </a:r>
            <a:r>
              <a:rPr lang="tr-TR" sz="1400" dirty="0" err="1"/>
              <a:t>Based</a:t>
            </a:r>
            <a:r>
              <a:rPr lang="tr-TR" sz="1400" dirty="0"/>
              <a:t> on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inputs</a:t>
            </a:r>
            <a:r>
              <a:rPr lang="tr-TR" sz="1400" dirty="0"/>
              <a:t>,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system</a:t>
            </a:r>
            <a:r>
              <a:rPr lang="tr-TR" sz="1400" dirty="0"/>
              <a:t> </a:t>
            </a:r>
            <a:r>
              <a:rPr lang="tr-TR" sz="1400" dirty="0" err="1"/>
              <a:t>provides</a:t>
            </a:r>
            <a:r>
              <a:rPr lang="tr-TR" sz="1400" dirty="0"/>
              <a:t> </a:t>
            </a:r>
            <a:r>
              <a:rPr lang="tr-TR" sz="1400" dirty="0" err="1"/>
              <a:t>appropriate</a:t>
            </a:r>
            <a:r>
              <a:rPr lang="tr-TR" sz="1400" dirty="0"/>
              <a:t> </a:t>
            </a:r>
            <a:r>
              <a:rPr lang="tr-TR" sz="1400" dirty="0" err="1"/>
              <a:t>actions</a:t>
            </a:r>
            <a:r>
              <a:rPr lang="tr-TR" sz="1400" dirty="0"/>
              <a:t> </a:t>
            </a:r>
            <a:r>
              <a:rPr lang="tr-TR" sz="1400" dirty="0" err="1"/>
              <a:t>such</a:t>
            </a:r>
            <a:r>
              <a:rPr lang="tr-TR" sz="1400" dirty="0"/>
              <a:t> as </a:t>
            </a:r>
            <a:r>
              <a:rPr lang="tr-TR" sz="1400" dirty="0" err="1"/>
              <a:t>adding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item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cart, </a:t>
            </a:r>
            <a:r>
              <a:rPr lang="tr-TR" sz="1400" dirty="0" err="1"/>
              <a:t>showing</a:t>
            </a:r>
            <a:r>
              <a:rPr lang="tr-TR" sz="1400" dirty="0"/>
              <a:t> a </a:t>
            </a:r>
            <a:r>
              <a:rPr lang="tr-TR" sz="1400" dirty="0" err="1"/>
              <a:t>message</a:t>
            </a:r>
            <a:r>
              <a:rPr lang="tr-TR" sz="1400" dirty="0"/>
              <a:t>, </a:t>
            </a:r>
            <a:r>
              <a:rPr lang="tr-TR" sz="1400" dirty="0" err="1"/>
              <a:t>or</a:t>
            </a:r>
            <a:r>
              <a:rPr lang="tr-TR" sz="1400" dirty="0"/>
              <a:t> </a:t>
            </a:r>
            <a:r>
              <a:rPr lang="tr-TR" sz="1400" dirty="0" err="1"/>
              <a:t>preventing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action</a:t>
            </a:r>
            <a:r>
              <a:rPr lang="tr-TR" sz="1400" dirty="0"/>
              <a:t>. </a:t>
            </a:r>
            <a:r>
              <a:rPr lang="tr-TR" sz="1400" dirty="0" err="1"/>
              <a:t>This</a:t>
            </a:r>
            <a:r>
              <a:rPr lang="tr-TR" sz="1400" dirty="0"/>
              <a:t> </a:t>
            </a:r>
            <a:r>
              <a:rPr lang="tr-TR" sz="1400" dirty="0" err="1"/>
              <a:t>helps</a:t>
            </a:r>
            <a:r>
              <a:rPr lang="tr-TR" sz="1400" dirty="0"/>
              <a:t> </a:t>
            </a:r>
            <a:r>
              <a:rPr lang="tr-TR" sz="1400" dirty="0" err="1"/>
              <a:t>systematically</a:t>
            </a:r>
            <a:r>
              <a:rPr lang="tr-TR" sz="1400" dirty="0"/>
              <a:t> </a:t>
            </a:r>
            <a:r>
              <a:rPr lang="tr-TR" sz="1400" dirty="0" err="1"/>
              <a:t>cover</a:t>
            </a:r>
            <a:r>
              <a:rPr lang="tr-TR" sz="1400" dirty="0"/>
              <a:t> </a:t>
            </a:r>
            <a:r>
              <a:rPr lang="tr-TR" sz="1400" dirty="0" err="1"/>
              <a:t>all</a:t>
            </a:r>
            <a:r>
              <a:rPr lang="tr-TR" sz="1400" dirty="0"/>
              <a:t> </a:t>
            </a:r>
            <a:r>
              <a:rPr lang="tr-TR" sz="1400" dirty="0" err="1"/>
              <a:t>possible</a:t>
            </a:r>
            <a:r>
              <a:rPr lang="tr-TR" sz="1400" dirty="0"/>
              <a:t> </a:t>
            </a:r>
            <a:r>
              <a:rPr lang="tr-TR" sz="1400" dirty="0" err="1"/>
              <a:t>cases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ensures</a:t>
            </a:r>
            <a:r>
              <a:rPr lang="tr-TR" sz="1400" dirty="0"/>
              <a:t> </a:t>
            </a:r>
            <a:r>
              <a:rPr lang="tr-TR" sz="1400" dirty="0" err="1"/>
              <a:t>correct</a:t>
            </a:r>
            <a:r>
              <a:rPr lang="tr-TR" sz="1400" dirty="0"/>
              <a:t> </a:t>
            </a:r>
            <a:r>
              <a:rPr lang="tr-TR" sz="1400" dirty="0" err="1"/>
              <a:t>system</a:t>
            </a:r>
            <a:r>
              <a:rPr lang="tr-TR" sz="1400" dirty="0"/>
              <a:t> </a:t>
            </a:r>
            <a:r>
              <a:rPr lang="tr-TR" sz="1400" dirty="0" err="1"/>
              <a:t>behavior</a:t>
            </a:r>
            <a:r>
              <a:rPr lang="tr-TR" sz="1400" dirty="0"/>
              <a:t> </a:t>
            </a:r>
            <a:r>
              <a:rPr lang="tr-TR" sz="1400" dirty="0" err="1"/>
              <a:t>under</a:t>
            </a:r>
            <a:r>
              <a:rPr lang="tr-TR" sz="1400" dirty="0"/>
              <a:t> </a:t>
            </a:r>
            <a:r>
              <a:rPr lang="tr-TR" sz="1400" dirty="0" err="1"/>
              <a:t>different</a:t>
            </a:r>
            <a:r>
              <a:rPr lang="tr-TR" sz="1400" dirty="0"/>
              <a:t> </a:t>
            </a:r>
            <a:r>
              <a:rPr lang="tr-TR" sz="1400" dirty="0" err="1"/>
              <a:t>scenarios</a:t>
            </a:r>
            <a:r>
              <a:rPr lang="tr-TR" sz="1400" dirty="0"/>
              <a:t>.</a:t>
            </a:r>
          </a:p>
        </p:txBody>
      </p:sp>
      <p:pic>
        <p:nvPicPr>
          <p:cNvPr id="9" name="Resim 8" descr="metin, sayı, numara, çizgi, kare içeren bir resim&#10;&#10;Açıklama otomatik olarak oluşturuldu">
            <a:extLst>
              <a:ext uri="{FF2B5EF4-FFF2-40B4-BE49-F238E27FC236}">
                <a16:creationId xmlns:a16="http://schemas.microsoft.com/office/drawing/2014/main" id="{A873E0FE-D1E1-06D8-735D-47C376F64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416" y="1146608"/>
            <a:ext cx="7772400" cy="47620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Mürekkep 9">
                <a:extLst>
                  <a:ext uri="{FF2B5EF4-FFF2-40B4-BE49-F238E27FC236}">
                    <a16:creationId xmlns:a16="http://schemas.microsoft.com/office/drawing/2014/main" id="{7D54CD5C-AA97-9EE5-3344-68DAEAB09AEE}"/>
                  </a:ext>
                </a:extLst>
              </p14:cNvPr>
              <p14:cNvContentPartPr/>
              <p14:nvPr/>
            </p14:nvContentPartPr>
            <p14:xfrm>
              <a:off x="10089737" y="3851811"/>
              <a:ext cx="360" cy="360"/>
            </p14:xfrm>
          </p:contentPart>
        </mc:Choice>
        <mc:Fallback xmlns="">
          <p:pic>
            <p:nvPicPr>
              <p:cNvPr id="10" name="Mürekkep 9">
                <a:extLst>
                  <a:ext uri="{FF2B5EF4-FFF2-40B4-BE49-F238E27FC236}">
                    <a16:creationId xmlns:a16="http://schemas.microsoft.com/office/drawing/2014/main" id="{7D54CD5C-AA97-9EE5-3344-68DAEAB09A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3617" y="384569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Mürekkep 10">
                <a:extLst>
                  <a:ext uri="{FF2B5EF4-FFF2-40B4-BE49-F238E27FC236}">
                    <a16:creationId xmlns:a16="http://schemas.microsoft.com/office/drawing/2014/main" id="{48454EC5-AC37-FBDB-E846-2BB1D1A696D1}"/>
                  </a:ext>
                </a:extLst>
              </p14:cNvPr>
              <p14:cNvContentPartPr/>
              <p14:nvPr/>
            </p14:nvContentPartPr>
            <p14:xfrm>
              <a:off x="7084131" y="5949891"/>
              <a:ext cx="360" cy="360"/>
            </p14:xfrm>
          </p:contentPart>
        </mc:Choice>
        <mc:Fallback xmlns="">
          <p:pic>
            <p:nvPicPr>
              <p:cNvPr id="11" name="Mürekkep 10">
                <a:extLst>
                  <a:ext uri="{FF2B5EF4-FFF2-40B4-BE49-F238E27FC236}">
                    <a16:creationId xmlns:a16="http://schemas.microsoft.com/office/drawing/2014/main" id="{48454EC5-AC37-FBDB-E846-2BB1D1A696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8011" y="594377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Mürekkep 11">
                <a:extLst>
                  <a:ext uri="{FF2B5EF4-FFF2-40B4-BE49-F238E27FC236}">
                    <a16:creationId xmlns:a16="http://schemas.microsoft.com/office/drawing/2014/main" id="{7A29721F-275C-DF7A-DF17-D7DCF8FA97BE}"/>
                  </a:ext>
                </a:extLst>
              </p14:cNvPr>
              <p14:cNvContentPartPr/>
              <p14:nvPr/>
            </p14:nvContentPartPr>
            <p14:xfrm>
              <a:off x="4686531" y="5657931"/>
              <a:ext cx="360" cy="360"/>
            </p14:xfrm>
          </p:contentPart>
        </mc:Choice>
        <mc:Fallback xmlns="">
          <p:pic>
            <p:nvPicPr>
              <p:cNvPr id="12" name="Mürekkep 11">
                <a:extLst>
                  <a:ext uri="{FF2B5EF4-FFF2-40B4-BE49-F238E27FC236}">
                    <a16:creationId xmlns:a16="http://schemas.microsoft.com/office/drawing/2014/main" id="{7A29721F-275C-DF7A-DF17-D7DCF8FA97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0411" y="565181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DCEB1E-513B-2D96-3006-9E789373A6F1}"/>
              </a:ext>
            </a:extLst>
          </p:cNvPr>
          <p:cNvSpPr txBox="1"/>
          <p:nvPr/>
        </p:nvSpPr>
        <p:spPr>
          <a:xfrm>
            <a:off x="5368133" y="6519446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155244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F6D27E-3600-505A-1128-EE367547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13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ED1D92A-1CC0-BF2C-0A8A-D6FD5393D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  <p:pic>
        <p:nvPicPr>
          <p:cNvPr id="7" name="Resim 6" descr="metin, ekran görüntüsü, paralel, dikdörtgen içeren bir resim&#10;&#10;Açıklama otomatik olarak oluşturuldu">
            <a:extLst>
              <a:ext uri="{FF2B5EF4-FFF2-40B4-BE49-F238E27FC236}">
                <a16:creationId xmlns:a16="http://schemas.microsoft.com/office/drawing/2014/main" id="{671BC35D-7733-E76D-3D67-F1FBB2EBA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0"/>
            <a:ext cx="9525000" cy="6741640"/>
          </a:xfrm>
          <a:prstGeom prst="rect">
            <a:avLst/>
          </a:prstGeom>
        </p:spPr>
      </p:pic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DC8FDE0A-1A81-2512-3123-65943F3B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56" y="1866900"/>
            <a:ext cx="2671763" cy="3581400"/>
          </a:xfrm>
        </p:spPr>
        <p:txBody>
          <a:bodyPr>
            <a:normAutofit/>
          </a:bodyPr>
          <a:lstStyle/>
          <a:p>
            <a:pPr marL="530352" lvl="1" indent="0">
              <a:buNone/>
            </a:pP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6F76078-9F5F-7DED-6F90-8319F7596B0C}"/>
              </a:ext>
            </a:extLst>
          </p:cNvPr>
          <p:cNvSpPr txBox="1"/>
          <p:nvPr/>
        </p:nvSpPr>
        <p:spPr>
          <a:xfrm>
            <a:off x="-37921" y="0"/>
            <a:ext cx="745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A4932-E2A0-B3BF-874B-60AEB2EFCF47}"/>
              </a:ext>
            </a:extLst>
          </p:cNvPr>
          <p:cNvSpPr txBox="1"/>
          <p:nvPr/>
        </p:nvSpPr>
        <p:spPr>
          <a:xfrm>
            <a:off x="5549774" y="6688723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17026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7188A7-6AE9-9D2B-E457-8163394B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47" y="12699"/>
            <a:ext cx="9601200" cy="1041976"/>
          </a:xfrm>
        </p:spPr>
        <p:txBody>
          <a:bodyPr/>
          <a:lstStyle/>
          <a:p>
            <a:pPr algn="ctr"/>
            <a:r>
              <a:rPr lang="tr-TR" dirty="0"/>
              <a:t>Use Case Test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67A2B5F6-7079-9DB6-CF67-6CA87D026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4" y="0"/>
            <a:ext cx="904875" cy="885825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D2C1A940-5AA5-96C3-5FC7-96F3753AFD42}"/>
              </a:ext>
            </a:extLst>
          </p:cNvPr>
          <p:cNvSpPr txBox="1"/>
          <p:nvPr/>
        </p:nvSpPr>
        <p:spPr>
          <a:xfrm>
            <a:off x="-142874" y="-51088"/>
            <a:ext cx="105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13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483D16-DC1E-B354-A2C0-A0AB4D5A5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9494" y="533687"/>
            <a:ext cx="10790190" cy="617664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5FE45F-D012-2724-297C-2E9FEBD59517}"/>
              </a:ext>
            </a:extLst>
          </p:cNvPr>
          <p:cNvSpPr txBox="1"/>
          <p:nvPr/>
        </p:nvSpPr>
        <p:spPr>
          <a:xfrm>
            <a:off x="5291933" y="6648865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/>
              <a:t>23070006047@stu.yasar.edu.tr</a:t>
            </a:r>
          </a:p>
          <a:p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531106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908D3799-9BAB-44EB-9D57-D9E9F372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25" y="2686050"/>
            <a:ext cx="4933950" cy="1485900"/>
          </a:xfrm>
        </p:spPr>
        <p:txBody>
          <a:bodyPr>
            <a:noAutofit/>
          </a:bodyPr>
          <a:lstStyle/>
          <a:p>
            <a:r>
              <a:rPr lang="tr-TR" sz="5400" dirty="0"/>
              <a:t>THANK YOU FOR LISTENING </a:t>
            </a:r>
            <a:r>
              <a:rPr lang="en-US" sz="5400" dirty="0">
                <a:sym typeface="Wingdings" panose="05000000000000000000" pitchFamily="2" charset="2"/>
              </a:rPr>
              <a:t></a:t>
            </a:r>
            <a:endParaRPr lang="tr-TR" sz="5400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5211AA4-C57C-F037-C861-6B2DC6FC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11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57D78F-CC11-C3E9-714A-1D5061C3C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088" y="2900363"/>
            <a:ext cx="11749087" cy="1485900"/>
          </a:xfrm>
        </p:spPr>
        <p:txBody>
          <a:bodyPr/>
          <a:lstStyle/>
          <a:p>
            <a:r>
              <a:rPr lang="tr-TR" dirty="0"/>
              <a:t>  ADDITIONAL VIDEOS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E8B6563-7AC8-40D7-6F05-4F57384BF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0"/>
            <a:ext cx="9048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495"/>
      </p:ext>
    </p:extLst>
  </p:cSld>
  <p:clrMapOvr>
    <a:masterClrMapping/>
  </p:clrMapOvr>
</p:sld>
</file>

<file path=ppt/theme/theme1.xml><?xml version="1.0" encoding="utf-8"?>
<a:theme xmlns:a="http://schemas.openxmlformats.org/drawingml/2006/main" name="Kırpma">
  <a:themeElements>
    <a:clrScheme name="Kırpma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ırpma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ırp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983</TotalTime>
  <Words>590</Words>
  <Application>Microsoft Office PowerPoint</Application>
  <PresentationFormat>Widescreen</PresentationFormat>
  <Paragraphs>92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Franklin Gothic Book</vt:lpstr>
      <vt:lpstr>Open Sans Extra Bold</vt:lpstr>
      <vt:lpstr>-webkit-standard</vt:lpstr>
      <vt:lpstr>Wingdings</vt:lpstr>
      <vt:lpstr>Kırpma</vt:lpstr>
      <vt:lpstr>SE 2226   Software Quality Assurance and Testing Project </vt:lpstr>
      <vt:lpstr>OVERVIEW</vt:lpstr>
      <vt:lpstr>Problem Purpose &amp; Tested Features</vt:lpstr>
      <vt:lpstr>BLACK BOX TECHNIQUES</vt:lpstr>
      <vt:lpstr>Boundary Value Analysis:  </vt:lpstr>
      <vt:lpstr>Boundary Values Based On Character Count</vt:lpstr>
      <vt:lpstr>Equivalance Class Partitioning</vt:lpstr>
      <vt:lpstr>ERROR TYPES</vt:lpstr>
      <vt:lpstr>FAILED CASES</vt:lpstr>
      <vt:lpstr>PowerPoint Presentation</vt:lpstr>
      <vt:lpstr>PowerPoint Presentation</vt:lpstr>
      <vt:lpstr>13</vt:lpstr>
      <vt:lpstr>Use Case Test</vt:lpstr>
      <vt:lpstr>THANK YOU FOR LISTENING </vt:lpstr>
      <vt:lpstr>  ADDITIONAL VIDEOS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2226   Software Quality Assurance and Testing Project </dc:title>
  <dc:creator>ARDA GÜRKAN</dc:creator>
  <cp:lastModifiedBy>Can GERE</cp:lastModifiedBy>
  <cp:revision>5</cp:revision>
  <dcterms:created xsi:type="dcterms:W3CDTF">2025-06-18T13:55:02Z</dcterms:created>
  <dcterms:modified xsi:type="dcterms:W3CDTF">2025-06-20T16:26:09Z</dcterms:modified>
</cp:coreProperties>
</file>